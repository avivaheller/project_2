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5"/>
  </p:notesMasterIdLst>
  <p:sldIdLst>
    <p:sldId id="256" r:id="rId2"/>
    <p:sldId id="257" r:id="rId3"/>
    <p:sldId id="264" r:id="rId4"/>
    <p:sldId id="268" r:id="rId5"/>
    <p:sldId id="260" r:id="rId6"/>
    <p:sldId id="258" r:id="rId7"/>
    <p:sldId id="277" r:id="rId8"/>
    <p:sldId id="279" r:id="rId9"/>
    <p:sldId id="267" r:id="rId10"/>
    <p:sldId id="259" r:id="rId11"/>
    <p:sldId id="266" r:id="rId12"/>
    <p:sldId id="262" r:id="rId13"/>
    <p:sldId id="269" r:id="rId14"/>
    <p:sldId id="261" r:id="rId15"/>
    <p:sldId id="263" r:id="rId16"/>
    <p:sldId id="270" r:id="rId17"/>
    <p:sldId id="274" r:id="rId18"/>
    <p:sldId id="271" r:id="rId19"/>
    <p:sldId id="273" r:id="rId20"/>
    <p:sldId id="278" r:id="rId21"/>
    <p:sldId id="275" r:id="rId22"/>
    <p:sldId id="276" r:id="rId23"/>
    <p:sldId id="272" r:id="rId2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452" autoAdjust="0"/>
    <p:restoredTop sz="94660"/>
  </p:normalViewPr>
  <p:slideViewPr>
    <p:cSldViewPr snapToGrid="0">
      <p:cViewPr>
        <p:scale>
          <a:sx n="66" d="100"/>
          <a:sy n="66" d="100"/>
        </p:scale>
        <p:origin x="1166"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38556C1-A806-4AB8-93E4-1F020493EE38}" type="datetimeFigureOut">
              <a:rPr lang="he-IL" smtClean="0"/>
              <a:t>כ"ה/סיון/תשפ"ו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1718AA93-61EC-4AA1-953F-E5133F4FCC84}" type="slidenum">
              <a:rPr lang="he-IL" smtClean="0"/>
              <a:t>‹#›</a:t>
            </a:fld>
            <a:endParaRPr lang="he-IL"/>
          </a:p>
        </p:txBody>
      </p:sp>
    </p:spTree>
    <p:extLst>
      <p:ext uri="{BB962C8B-B14F-4D97-AF65-F5344CB8AC3E}">
        <p14:creationId xmlns:p14="http://schemas.microsoft.com/office/powerpoint/2010/main" val="320678371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1718AA93-61EC-4AA1-953F-E5133F4FCC84}" type="slidenum">
              <a:rPr lang="he-IL" smtClean="0"/>
              <a:t>5</a:t>
            </a:fld>
            <a:endParaRPr lang="he-IL"/>
          </a:p>
        </p:txBody>
      </p:sp>
    </p:spTree>
    <p:extLst>
      <p:ext uri="{BB962C8B-B14F-4D97-AF65-F5344CB8AC3E}">
        <p14:creationId xmlns:p14="http://schemas.microsoft.com/office/powerpoint/2010/main" val="1383890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1718AA93-61EC-4AA1-953F-E5133F4FCC84}" type="slidenum">
              <a:rPr lang="he-IL" smtClean="0"/>
              <a:t>13</a:t>
            </a:fld>
            <a:endParaRPr lang="he-IL"/>
          </a:p>
        </p:txBody>
      </p:sp>
    </p:spTree>
    <p:extLst>
      <p:ext uri="{BB962C8B-B14F-4D97-AF65-F5344CB8AC3E}">
        <p14:creationId xmlns:p14="http://schemas.microsoft.com/office/powerpoint/2010/main" val="946303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55D767D-5868-8075-F857-5C7B72D3CBED}"/>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EE36FABE-84E9-1434-5C1F-D6CFF02F12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5640042-5DC4-60F8-3DBD-6B1CB4F5DC72}"/>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5" name="מציין מיקום של כותרת תחתונה 4">
            <a:extLst>
              <a:ext uri="{FF2B5EF4-FFF2-40B4-BE49-F238E27FC236}">
                <a16:creationId xmlns:a16="http://schemas.microsoft.com/office/drawing/2014/main" id="{008343B8-56F6-9E84-816F-D3E8E8DB127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2F0936C-2C7E-28CF-DC32-4740B1CFF8B7}"/>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490461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3AAE0E5-6562-862F-B61E-8298ACD0B5A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46500D7-D457-6CB7-CE5C-B5561820EEEB}"/>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23DCB5D-FE8D-F48C-8756-2101ADEB404A}"/>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5" name="מציין מיקום של כותרת תחתונה 4">
            <a:extLst>
              <a:ext uri="{FF2B5EF4-FFF2-40B4-BE49-F238E27FC236}">
                <a16:creationId xmlns:a16="http://schemas.microsoft.com/office/drawing/2014/main" id="{E58A3FC6-06C2-DA08-DC65-41E3CE273B5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79C28F0-3681-A020-0A11-D738BC1C25A1}"/>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1498420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1467DA-AACF-9CBB-3B98-8342E78718E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BEBE6D5-CFF8-8245-65D7-4D5D5BA9B4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CDC30682-5664-CCFA-6F25-0F59636AC7A0}"/>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5" name="מציין מיקום של כותרת תחתונה 4">
            <a:extLst>
              <a:ext uri="{FF2B5EF4-FFF2-40B4-BE49-F238E27FC236}">
                <a16:creationId xmlns:a16="http://schemas.microsoft.com/office/drawing/2014/main" id="{0F813C79-FB4A-16BA-4C64-587C5CA2A61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71D432C-0203-35CA-9954-494FBA14DCD0}"/>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1560166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B8E82AC-67EA-AFA1-9735-52BFE243CF9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35164309-715F-535C-2862-329079708B5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7A778FD0-0132-D3EF-86A1-8359E2245060}"/>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53ADB5F0-347E-32E9-51EA-9025EDB57EB7}"/>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6" name="מציין מיקום של כותרת תחתונה 5">
            <a:extLst>
              <a:ext uri="{FF2B5EF4-FFF2-40B4-BE49-F238E27FC236}">
                <a16:creationId xmlns:a16="http://schemas.microsoft.com/office/drawing/2014/main" id="{9BDAB6CC-8942-C36B-48BE-0014AB29DF4D}"/>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91909CE9-4B5B-20CE-84BF-D6FD11ACD216}"/>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3569816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71E70F1-4BED-AA35-5C66-BD56AF5E6830}"/>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CE1F45ED-B2CD-369B-ADC9-3E95E795A9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7B72DA26-8F28-5C64-E4E7-34E41767DCFC}"/>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2C43355C-C847-8DED-2D95-A7F1F6776F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73DB48AE-A948-08AC-7095-7EA9EA4025EE}"/>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581347C6-E907-7001-D9FA-276FBB8F7925}"/>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8" name="מציין מיקום של כותרת תחתונה 7">
            <a:extLst>
              <a:ext uri="{FF2B5EF4-FFF2-40B4-BE49-F238E27FC236}">
                <a16:creationId xmlns:a16="http://schemas.microsoft.com/office/drawing/2014/main" id="{96B1FE08-0569-3605-3DC2-81067546BF67}"/>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638AEEDF-0BA0-79FF-E7A4-49C44B73A8ED}"/>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3548072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83C00D2-82E0-B986-5F95-2E60AC79AC0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F0405D60-8D50-8D08-45B3-636CD983DBC0}"/>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4" name="מציין מיקום של כותרת תחתונה 3">
            <a:extLst>
              <a:ext uri="{FF2B5EF4-FFF2-40B4-BE49-F238E27FC236}">
                <a16:creationId xmlns:a16="http://schemas.microsoft.com/office/drawing/2014/main" id="{738A8FA6-643F-479C-48FA-85E0C951C544}"/>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68F50533-0BD6-9F42-C274-0764E7C744B7}"/>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89063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BD0E4D36-AD55-5F6B-572A-15C9ABD2D2D5}"/>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3" name="מציין מיקום של כותרת תחתונה 2">
            <a:extLst>
              <a:ext uri="{FF2B5EF4-FFF2-40B4-BE49-F238E27FC236}">
                <a16:creationId xmlns:a16="http://schemas.microsoft.com/office/drawing/2014/main" id="{CF66869A-A624-72E1-41A1-CAB007B03875}"/>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C07DB1F6-1E79-4668-72E2-80E400BC087D}"/>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2950246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56F8B01-136E-FB93-26AE-7A6FCF69B102}"/>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D3510FD-B925-571A-4FD0-9B463136CA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78509C0F-1BD7-B16B-C5D6-7D91FB5C71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39D29B7-AC49-90F1-E0FD-66DCC9C4BD38}"/>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6" name="מציין מיקום של כותרת תחתונה 5">
            <a:extLst>
              <a:ext uri="{FF2B5EF4-FFF2-40B4-BE49-F238E27FC236}">
                <a16:creationId xmlns:a16="http://schemas.microsoft.com/office/drawing/2014/main" id="{5EAFF198-AD52-07CE-792F-AEE990B88332}"/>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E3C83C9A-5D8D-9618-E528-8AEA50512ADD}"/>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2252532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9EE2163-3B86-0909-8E0C-165C9958B70F}"/>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199BFB2F-8D45-EC98-481E-7BE4171A84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6F4211C5-9488-294E-CB06-7EDE72ADB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AB416EF-514F-E231-84F6-485A3748FCDF}"/>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6" name="מציין מיקום של כותרת תחתונה 5">
            <a:extLst>
              <a:ext uri="{FF2B5EF4-FFF2-40B4-BE49-F238E27FC236}">
                <a16:creationId xmlns:a16="http://schemas.microsoft.com/office/drawing/2014/main" id="{2B9A3AFB-A585-8720-0A7F-89CD474EBA14}"/>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9A49FF5A-C5D0-9217-6A2F-326A6CBBE22E}"/>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2698441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E3C8AD8-EF9A-1DDD-9E5C-1EBEB311768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FF2A62CC-455C-1110-D410-B0057DCAAFFF}"/>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C5830C6-B98A-70D9-3A5A-BA65A300DEE0}"/>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5" name="מציין מיקום של כותרת תחתונה 4">
            <a:extLst>
              <a:ext uri="{FF2B5EF4-FFF2-40B4-BE49-F238E27FC236}">
                <a16:creationId xmlns:a16="http://schemas.microsoft.com/office/drawing/2014/main" id="{A8ACABDD-9B1B-0CB1-F6DA-60BA780423B4}"/>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1C139DF-BC96-BF80-97B7-8C871331AC1A}"/>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717030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87B3AC62-CA0D-03F6-2F21-B84CA1017144}"/>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802BECAB-1B21-5E26-9464-D8E7FEFE6110}"/>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49A48D5-F297-D0F2-C170-364B3DFB5B6B}"/>
              </a:ext>
            </a:extLst>
          </p:cNvPr>
          <p:cNvSpPr>
            <a:spLocks noGrp="1"/>
          </p:cNvSpPr>
          <p:nvPr>
            <p:ph type="dt" sz="half" idx="10"/>
          </p:nvPr>
        </p:nvSpPr>
        <p:spPr/>
        <p:txBody>
          <a:bodyPr/>
          <a:lstStyle/>
          <a:p>
            <a:fld id="{1DA18E7C-92CC-461D-96E3-80B8BC11C038}" type="datetimeFigureOut">
              <a:rPr lang="he-IL" smtClean="0"/>
              <a:t>כ"ה/סיון/תשפ"ו</a:t>
            </a:fld>
            <a:endParaRPr lang="he-IL"/>
          </a:p>
        </p:txBody>
      </p:sp>
      <p:sp>
        <p:nvSpPr>
          <p:cNvPr id="5" name="מציין מיקום של כותרת תחתונה 4">
            <a:extLst>
              <a:ext uri="{FF2B5EF4-FFF2-40B4-BE49-F238E27FC236}">
                <a16:creationId xmlns:a16="http://schemas.microsoft.com/office/drawing/2014/main" id="{D10667FA-C576-B8C2-3742-1FFA8588B76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D4B096D-A410-6591-DC9E-30DEB227C3FB}"/>
              </a:ext>
            </a:extLst>
          </p:cNvPr>
          <p:cNvSpPr>
            <a:spLocks noGrp="1"/>
          </p:cNvSpPr>
          <p:nvPr>
            <p:ph type="sldNum" sz="quarter" idx="12"/>
          </p:nvPr>
        </p:nvSpPr>
        <p:spPr/>
        <p:txBody>
          <a:bodyPr/>
          <a:lstStyle/>
          <a:p>
            <a:fld id="{BBA2FFD6-16B4-41AE-B786-967F3DD89856}" type="slidenum">
              <a:rPr lang="he-IL" smtClean="0"/>
              <a:t>‹#›</a:t>
            </a:fld>
            <a:endParaRPr lang="he-IL"/>
          </a:p>
        </p:txBody>
      </p:sp>
    </p:spTree>
    <p:extLst>
      <p:ext uri="{BB962C8B-B14F-4D97-AF65-F5344CB8AC3E}">
        <p14:creationId xmlns:p14="http://schemas.microsoft.com/office/powerpoint/2010/main" val="535525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A39C44DA-28CE-D20B-F412-AF03EFA8EE0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15CC55F-BB63-4929-E437-F76DB33A3F08}"/>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5473EFA-32A3-79B7-47B5-8B45706380A7}"/>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1DA18E7C-92CC-461D-96E3-80B8BC11C038}" type="datetimeFigureOut">
              <a:rPr lang="he-IL" smtClean="0"/>
              <a:t>כ"ה/סיון/תשפ"ו</a:t>
            </a:fld>
            <a:endParaRPr lang="he-IL"/>
          </a:p>
        </p:txBody>
      </p:sp>
      <p:sp>
        <p:nvSpPr>
          <p:cNvPr id="5" name="מציין מיקום של כותרת תחתונה 4">
            <a:extLst>
              <a:ext uri="{FF2B5EF4-FFF2-40B4-BE49-F238E27FC236}">
                <a16:creationId xmlns:a16="http://schemas.microsoft.com/office/drawing/2014/main" id="{96C14AB2-CB1E-80F2-BC00-6852D1552F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1229308A-871E-FDB0-F023-EACCE94207A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BBA2FFD6-16B4-41AE-B786-967F3DD89856}" type="slidenum">
              <a:rPr lang="he-IL" smtClean="0"/>
              <a:t>‹#›</a:t>
            </a:fld>
            <a:endParaRPr lang="he-IL"/>
          </a:p>
        </p:txBody>
      </p:sp>
    </p:spTree>
    <p:extLst>
      <p:ext uri="{BB962C8B-B14F-4D97-AF65-F5344CB8AC3E}">
        <p14:creationId xmlns:p14="http://schemas.microsoft.com/office/powerpoint/2010/main" val="792061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CB43F24-9DC0-58C9-6BFA-128DC28CD80B}"/>
              </a:ext>
            </a:extLst>
          </p:cNvPr>
          <p:cNvSpPr>
            <a:spLocks noGrp="1"/>
          </p:cNvSpPr>
          <p:nvPr>
            <p:ph type="ctrTitle"/>
          </p:nvPr>
        </p:nvSpPr>
        <p:spPr/>
        <p:txBody>
          <a:bodyPr>
            <a:normAutofit fontScale="90000"/>
          </a:bodyPr>
          <a:lstStyle/>
          <a:p>
            <a:r>
              <a:rPr lang="en-US" b="1" u="sng" dirty="0"/>
              <a:t>Artificial Neural Networks – Project 2</a:t>
            </a:r>
            <a:br>
              <a:rPr lang="he-IL" b="1" u="sng" dirty="0"/>
            </a:br>
            <a:br>
              <a:rPr lang="he-IL" b="1" u="sng" dirty="0"/>
            </a:br>
            <a:r>
              <a:rPr lang="en-US" b="1" dirty="0"/>
              <a:t>FIGURES</a:t>
            </a:r>
            <a:endParaRPr lang="he-IL" dirty="0"/>
          </a:p>
        </p:txBody>
      </p:sp>
      <p:sp>
        <p:nvSpPr>
          <p:cNvPr id="3" name="כותרת משנה 2">
            <a:extLst>
              <a:ext uri="{FF2B5EF4-FFF2-40B4-BE49-F238E27FC236}">
                <a16:creationId xmlns:a16="http://schemas.microsoft.com/office/drawing/2014/main" id="{0FB057BD-DAA6-4DDD-6ECE-D77A26CEE46E}"/>
              </a:ext>
            </a:extLst>
          </p:cNvPr>
          <p:cNvSpPr>
            <a:spLocks noGrp="1"/>
          </p:cNvSpPr>
          <p:nvPr>
            <p:ph type="subTitle" idx="1"/>
          </p:nvPr>
        </p:nvSpPr>
        <p:spPr>
          <a:xfrm>
            <a:off x="1524000" y="4079875"/>
            <a:ext cx="9144000" cy="600280"/>
          </a:xfrm>
        </p:spPr>
        <p:txBody>
          <a:bodyPr/>
          <a:lstStyle/>
          <a:p>
            <a:r>
              <a:rPr lang="en-US" dirty="0"/>
              <a:t>Ora Friedman TZ 328768163, Aviva Heller TZ 015972045</a:t>
            </a:r>
          </a:p>
          <a:p>
            <a:endParaRPr lang="en-US" dirty="0"/>
          </a:p>
          <a:p>
            <a:endParaRPr lang="en-US" dirty="0"/>
          </a:p>
          <a:p>
            <a:endParaRPr lang="he-IL" dirty="0"/>
          </a:p>
        </p:txBody>
      </p:sp>
    </p:spTree>
    <p:extLst>
      <p:ext uri="{BB962C8B-B14F-4D97-AF65-F5344CB8AC3E}">
        <p14:creationId xmlns:p14="http://schemas.microsoft.com/office/powerpoint/2010/main" val="2268952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תמונה 10">
            <a:extLst>
              <a:ext uri="{FF2B5EF4-FFF2-40B4-BE49-F238E27FC236}">
                <a16:creationId xmlns:a16="http://schemas.microsoft.com/office/drawing/2014/main" id="{2458AE44-D17C-C8C2-4E1B-9201A94CC8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107" y="734437"/>
            <a:ext cx="10709786" cy="4522858"/>
          </a:xfrm>
          <a:prstGeom prst="rect">
            <a:avLst/>
          </a:prstGeom>
        </p:spPr>
      </p:pic>
      <p:sp>
        <p:nvSpPr>
          <p:cNvPr id="2" name="Text Box 3">
            <a:extLst>
              <a:ext uri="{FF2B5EF4-FFF2-40B4-BE49-F238E27FC236}">
                <a16:creationId xmlns:a16="http://schemas.microsoft.com/office/drawing/2014/main" id="{582BB1B5-18C1-17AC-1A5D-52AD2B7DAC7C}"/>
              </a:ext>
            </a:extLst>
          </p:cNvPr>
          <p:cNvSpPr txBox="1"/>
          <p:nvPr/>
        </p:nvSpPr>
        <p:spPr>
          <a:xfrm>
            <a:off x="1984010" y="5518484"/>
            <a:ext cx="8223979" cy="946484"/>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500"/>
              </a:spcAft>
              <a:buNone/>
            </a:pPr>
            <a:r>
              <a:rPr lang="en-US" sz="2400" i="1" dirty="0">
                <a:effectLst/>
                <a:latin typeface="Times New Roman" panose="02020603050405020304" pitchFamily="18" charset="0"/>
                <a:ea typeface="Arial" panose="020B0604020202020204" pitchFamily="34" charset="0"/>
              </a:rPr>
              <a:t>Figure A1: Sample images from CIFAR-10 (one per class).</a:t>
            </a:r>
            <a:endParaRPr lang="en-US" sz="2400" dirty="0">
              <a:effectLst/>
              <a:latin typeface="Arial" panose="020B0604020202020204" pitchFamily="34" charset="0"/>
              <a:ea typeface="Arial" panose="020B0604020202020204" pitchFamily="34" charset="0"/>
            </a:endParaRPr>
          </a:p>
          <a:p>
            <a:pPr>
              <a:buNone/>
            </a:pPr>
            <a:r>
              <a:rPr lang="en-US" sz="1100" dirty="0">
                <a:effectLst/>
                <a:latin typeface="Arial" panose="020B0604020202020204" pitchFamily="34" charset="0"/>
                <a:ea typeface="Arial" panose="020B0604020202020204" pitchFamily="34" charset="0"/>
              </a:rPr>
              <a:t> </a:t>
            </a:r>
          </a:p>
        </p:txBody>
      </p:sp>
    </p:spTree>
    <p:extLst>
      <p:ext uri="{BB962C8B-B14F-4D97-AF65-F5344CB8AC3E}">
        <p14:creationId xmlns:p14="http://schemas.microsoft.com/office/powerpoint/2010/main" val="3195208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תמונה 22">
            <a:extLst>
              <a:ext uri="{FF2B5EF4-FFF2-40B4-BE49-F238E27FC236}">
                <a16:creationId xmlns:a16="http://schemas.microsoft.com/office/drawing/2014/main" id="{20D17336-1FB2-D5D6-13C8-C36A458848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8460" y="290400"/>
            <a:ext cx="7215729" cy="6369041"/>
          </a:xfrm>
          <a:prstGeom prst="rect">
            <a:avLst/>
          </a:prstGeom>
        </p:spPr>
      </p:pic>
      <p:sp>
        <p:nvSpPr>
          <p:cNvPr id="2" name="Text Box 2">
            <a:extLst>
              <a:ext uri="{FF2B5EF4-FFF2-40B4-BE49-F238E27FC236}">
                <a16:creationId xmlns:a16="http://schemas.microsoft.com/office/drawing/2014/main" id="{68A7F240-7757-7FE9-A622-B91C380C0C33}"/>
              </a:ext>
            </a:extLst>
          </p:cNvPr>
          <p:cNvSpPr txBox="1">
            <a:spLocks noChangeArrowheads="1"/>
          </p:cNvSpPr>
          <p:nvPr/>
        </p:nvSpPr>
        <p:spPr bwMode="auto">
          <a:xfrm>
            <a:off x="685515" y="4274298"/>
            <a:ext cx="2859790" cy="1427028"/>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buNone/>
            </a:pPr>
            <a:r>
              <a:rPr lang="en-US" sz="2400" i="1" dirty="0">
                <a:effectLst/>
                <a:latin typeface="Times New Roman" panose="02020603050405020304" pitchFamily="18" charset="0"/>
                <a:ea typeface="Arial" panose="020B0604020202020204" pitchFamily="34" charset="0"/>
              </a:rPr>
              <a:t>Figure A2: Confusion matrices for </a:t>
            </a:r>
            <a:r>
              <a:rPr lang="en-US" sz="2400" i="1" dirty="0" err="1">
                <a:effectLst/>
                <a:latin typeface="Times New Roman" panose="02020603050405020304" pitchFamily="18" charset="0"/>
                <a:ea typeface="Arial" panose="020B0604020202020204" pitchFamily="34" charset="0"/>
              </a:rPr>
              <a:t>InitialCNN</a:t>
            </a:r>
            <a:r>
              <a:rPr lang="en-US" sz="2400" i="1" dirty="0">
                <a:effectLst/>
                <a:latin typeface="Times New Roman" panose="02020603050405020304" pitchFamily="18" charset="0"/>
                <a:ea typeface="Arial" panose="020B0604020202020204" pitchFamily="34" charset="0"/>
              </a:rPr>
              <a:t> and </a:t>
            </a:r>
            <a:r>
              <a:rPr lang="en-US" sz="2400" i="1" dirty="0" err="1">
                <a:effectLst/>
                <a:latin typeface="Times New Roman" panose="02020603050405020304" pitchFamily="18" charset="0"/>
                <a:ea typeface="Arial" panose="020B0604020202020204" pitchFamily="34" charset="0"/>
              </a:rPr>
              <a:t>ImprovedCNN</a:t>
            </a:r>
            <a:r>
              <a:rPr lang="en-US" sz="2400" i="1" dirty="0">
                <a:effectLst/>
                <a:latin typeface="Times New Roman" panose="02020603050405020304" pitchFamily="18" charset="0"/>
                <a:ea typeface="Arial" panose="020B0604020202020204" pitchFamily="34" charset="0"/>
              </a:rPr>
              <a:t> on the CIFAR-10 test set.</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688668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תמונה 14">
            <a:extLst>
              <a:ext uri="{FF2B5EF4-FFF2-40B4-BE49-F238E27FC236}">
                <a16:creationId xmlns:a16="http://schemas.microsoft.com/office/drawing/2014/main" id="{21C7E689-CF13-BA75-5E43-A5EFA0A13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6147" y="156035"/>
            <a:ext cx="6425906" cy="6545930"/>
          </a:xfrm>
          <a:prstGeom prst="rect">
            <a:avLst/>
          </a:prstGeom>
        </p:spPr>
      </p:pic>
      <p:sp>
        <p:nvSpPr>
          <p:cNvPr id="2" name="Text Box 2">
            <a:extLst>
              <a:ext uri="{FF2B5EF4-FFF2-40B4-BE49-F238E27FC236}">
                <a16:creationId xmlns:a16="http://schemas.microsoft.com/office/drawing/2014/main" id="{708CD197-9A3F-E688-EA8F-F8BDCD362EA9}"/>
              </a:ext>
            </a:extLst>
          </p:cNvPr>
          <p:cNvSpPr txBox="1">
            <a:spLocks noChangeArrowheads="1"/>
          </p:cNvSpPr>
          <p:nvPr/>
        </p:nvSpPr>
        <p:spPr bwMode="auto">
          <a:xfrm>
            <a:off x="525113" y="3429000"/>
            <a:ext cx="2749667" cy="2677656"/>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buNone/>
            </a:pPr>
            <a:r>
              <a:rPr lang="en-US" sz="2400" i="1" dirty="0">
                <a:effectLst/>
                <a:latin typeface="Times New Roman" panose="02020603050405020304" pitchFamily="18" charset="0"/>
                <a:ea typeface="Arial" panose="020B0604020202020204" pitchFamily="34" charset="0"/>
              </a:rPr>
              <a:t>Figure A3. Gradient magnitude per layer across 15 epochs — </a:t>
            </a:r>
            <a:r>
              <a:rPr lang="en-US" sz="2400" i="1" dirty="0" err="1">
                <a:effectLst/>
                <a:latin typeface="Times New Roman" panose="02020603050405020304" pitchFamily="18" charset="0"/>
                <a:ea typeface="Arial" panose="020B0604020202020204" pitchFamily="34" charset="0"/>
              </a:rPr>
              <a:t>InitialCNN</a:t>
            </a:r>
            <a:r>
              <a:rPr lang="en-US" sz="2400" i="1" dirty="0">
                <a:effectLst/>
                <a:latin typeface="Times New Roman" panose="02020603050405020304" pitchFamily="18" charset="0"/>
                <a:ea typeface="Arial" panose="020B0604020202020204" pitchFamily="34" charset="0"/>
              </a:rPr>
              <a:t> with Sigmoid vs </a:t>
            </a:r>
            <a:r>
              <a:rPr lang="en-US" sz="2400" i="1" dirty="0" err="1">
                <a:effectLst/>
                <a:latin typeface="Times New Roman" panose="02020603050405020304" pitchFamily="18" charset="0"/>
                <a:ea typeface="Arial" panose="020B0604020202020204" pitchFamily="34" charset="0"/>
              </a:rPr>
              <a:t>ImprovedCNN</a:t>
            </a:r>
            <a:r>
              <a:rPr lang="en-US" sz="2400" i="1" dirty="0">
                <a:effectLst/>
                <a:latin typeface="Times New Roman" panose="02020603050405020304" pitchFamily="18" charset="0"/>
                <a:ea typeface="Arial" panose="020B0604020202020204" pitchFamily="34" charset="0"/>
              </a:rPr>
              <a:t> with </a:t>
            </a:r>
            <a:r>
              <a:rPr lang="en-US" sz="2400" i="1" dirty="0" err="1">
                <a:effectLst/>
                <a:latin typeface="Times New Roman" panose="02020603050405020304" pitchFamily="18" charset="0"/>
                <a:ea typeface="Arial" panose="020B0604020202020204" pitchFamily="34" charset="0"/>
              </a:rPr>
              <a:t>ReLU</a:t>
            </a:r>
            <a:r>
              <a:rPr lang="en-US" sz="2400" i="1" dirty="0">
                <a:effectLst/>
                <a:latin typeface="Times New Roman" panose="02020603050405020304" pitchFamily="18" charset="0"/>
                <a:ea typeface="Arial" panose="020B0604020202020204" pitchFamily="34" charset="0"/>
              </a:rPr>
              <a:t> and Dropout.</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00966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תמונה 30">
            <a:extLst>
              <a:ext uri="{FF2B5EF4-FFF2-40B4-BE49-F238E27FC236}">
                <a16:creationId xmlns:a16="http://schemas.microsoft.com/office/drawing/2014/main" id="{AB6F1BEB-6F8D-85E0-13FF-63539A0295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16" y="547233"/>
            <a:ext cx="12033428" cy="3925704"/>
          </a:xfrm>
          <a:prstGeom prst="rect">
            <a:avLst/>
          </a:prstGeom>
        </p:spPr>
      </p:pic>
      <p:sp>
        <p:nvSpPr>
          <p:cNvPr id="2" name="Text Box 2">
            <a:extLst>
              <a:ext uri="{FF2B5EF4-FFF2-40B4-BE49-F238E27FC236}">
                <a16:creationId xmlns:a16="http://schemas.microsoft.com/office/drawing/2014/main" id="{759283CD-3D24-3501-83F9-8EE7F44A9F27}"/>
              </a:ext>
            </a:extLst>
          </p:cNvPr>
          <p:cNvSpPr txBox="1">
            <a:spLocks noChangeArrowheads="1"/>
          </p:cNvSpPr>
          <p:nvPr/>
        </p:nvSpPr>
        <p:spPr bwMode="auto">
          <a:xfrm>
            <a:off x="978568" y="4779977"/>
            <a:ext cx="10619874" cy="738507"/>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spcBef>
                <a:spcPts val="300"/>
              </a:spcBef>
              <a:spcAft>
                <a:spcPts val="300"/>
              </a:spcAft>
              <a:buNone/>
            </a:pPr>
            <a:r>
              <a:rPr lang="en-US" sz="2400" i="1" dirty="0">
                <a:effectLst/>
                <a:latin typeface="Times New Roman" panose="02020603050405020304" pitchFamily="18" charset="0"/>
                <a:ea typeface="Arial" panose="020B0604020202020204" pitchFamily="34" charset="0"/>
              </a:rPr>
              <a:t>Figure 1. (A) The learning curves plotting loss and accuracy for each epoch across 15 epoch training run for </a:t>
            </a:r>
            <a:r>
              <a:rPr lang="en-US" sz="2400" i="1" dirty="0" err="1">
                <a:effectLst/>
                <a:latin typeface="Times New Roman" panose="02020603050405020304" pitchFamily="18" charset="0"/>
                <a:ea typeface="Arial" panose="020B0604020202020204" pitchFamily="34" charset="0"/>
              </a:rPr>
              <a:t>InitialCNN</a:t>
            </a:r>
            <a:r>
              <a:rPr lang="en-US" sz="2400" i="1" dirty="0">
                <a:effectLst/>
                <a:latin typeface="Times New Roman" panose="02020603050405020304" pitchFamily="18" charset="0"/>
                <a:ea typeface="Arial" panose="020B0604020202020204" pitchFamily="34" charset="0"/>
              </a:rPr>
              <a:t>. Both metrics are tracked separately for training set (blue) and test set (red). </a:t>
            </a:r>
            <a:r>
              <a:rPr lang="en-US" sz="2400" dirty="0">
                <a:effectLst/>
                <a:latin typeface="Arial" panose="020B0604020202020204" pitchFamily="34" charset="0"/>
                <a:ea typeface="Arial" panose="020B0604020202020204" pitchFamily="34" charset="0"/>
              </a:rPr>
              <a:t> </a:t>
            </a:r>
          </a:p>
        </p:txBody>
      </p:sp>
    </p:spTree>
    <p:extLst>
      <p:ext uri="{BB962C8B-B14F-4D97-AF65-F5344CB8AC3E}">
        <p14:creationId xmlns:p14="http://schemas.microsoft.com/office/powerpoint/2010/main" val="244250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תמונה 24">
            <a:extLst>
              <a:ext uri="{FF2B5EF4-FFF2-40B4-BE49-F238E27FC236}">
                <a16:creationId xmlns:a16="http://schemas.microsoft.com/office/drawing/2014/main" id="{8CA18D87-74C6-05E1-7F2E-4A5766F4F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99" y="326730"/>
            <a:ext cx="11097021" cy="5517409"/>
          </a:xfrm>
          <a:prstGeom prst="rect">
            <a:avLst/>
          </a:prstGeom>
        </p:spPr>
      </p:pic>
      <p:sp>
        <p:nvSpPr>
          <p:cNvPr id="3" name="תיבת טקסט 2">
            <a:extLst>
              <a:ext uri="{FF2B5EF4-FFF2-40B4-BE49-F238E27FC236}">
                <a16:creationId xmlns:a16="http://schemas.microsoft.com/office/drawing/2014/main" id="{A5303FEA-DA6F-E7AD-9DD7-AF0A5A8805AA}"/>
              </a:ext>
            </a:extLst>
          </p:cNvPr>
          <p:cNvSpPr txBox="1"/>
          <p:nvPr/>
        </p:nvSpPr>
        <p:spPr>
          <a:xfrm>
            <a:off x="657726" y="5956433"/>
            <a:ext cx="10956757" cy="461665"/>
          </a:xfrm>
          <a:prstGeom prst="rect">
            <a:avLst/>
          </a:prstGeom>
          <a:noFill/>
        </p:spPr>
        <p:txBody>
          <a:bodyPr wrap="square">
            <a:spAutoFit/>
          </a:bodyPr>
          <a:lstStyle/>
          <a:p>
            <a:pPr algn="ctr">
              <a:spcBef>
                <a:spcPts val="300"/>
              </a:spcBef>
              <a:spcAft>
                <a:spcPts val="300"/>
              </a:spcAft>
              <a:buNone/>
            </a:pPr>
            <a:r>
              <a:rPr lang="en-US" sz="2400" i="1" dirty="0">
                <a:latin typeface="Times New Roman" panose="02020603050405020304" pitchFamily="18" charset="0"/>
                <a:ea typeface="Arial" panose="020B0604020202020204" pitchFamily="34" charset="0"/>
              </a:rPr>
              <a:t>Figure 1. </a:t>
            </a:r>
            <a:r>
              <a:rPr lang="en-US" sz="2400" i="1" dirty="0">
                <a:effectLst/>
                <a:latin typeface="Times New Roman" panose="02020603050405020304" pitchFamily="18" charset="0"/>
                <a:ea typeface="Arial" panose="020B0604020202020204" pitchFamily="34" charset="0"/>
              </a:rPr>
              <a:t>(B) Average gradient norm per parameter across epochs 1–15 for </a:t>
            </a:r>
            <a:r>
              <a:rPr lang="en-US" sz="2400" i="1" dirty="0" err="1">
                <a:effectLst/>
                <a:latin typeface="Times New Roman" panose="02020603050405020304" pitchFamily="18" charset="0"/>
                <a:ea typeface="Arial" panose="020B0604020202020204" pitchFamily="34" charset="0"/>
              </a:rPr>
              <a:t>InitialCNN</a:t>
            </a:r>
            <a:r>
              <a:rPr lang="en-US" sz="2400" i="1" dirty="0">
                <a:effectLst/>
                <a:latin typeface="Times New Roman" panose="02020603050405020304" pitchFamily="18" charset="0"/>
                <a:ea typeface="Arial" panose="020B0604020202020204" pitchFamily="34" charset="0"/>
              </a:rPr>
              <a:t>.</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312516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a:extLst>
              <a:ext uri="{FF2B5EF4-FFF2-40B4-BE49-F238E27FC236}">
                <a16:creationId xmlns:a16="http://schemas.microsoft.com/office/drawing/2014/main" id="{7421A2A6-4461-1FBE-856C-2699D7C4D067}"/>
              </a:ext>
            </a:extLst>
          </p:cNvPr>
          <p:cNvGrpSpPr/>
          <p:nvPr/>
        </p:nvGrpSpPr>
        <p:grpSpPr>
          <a:xfrm>
            <a:off x="449180" y="433137"/>
            <a:ext cx="10700083" cy="6168188"/>
            <a:chOff x="0" y="0"/>
            <a:chExt cx="3913505" cy="2455717"/>
          </a:xfrm>
        </p:grpSpPr>
        <p:pic>
          <p:nvPicPr>
            <p:cNvPr id="3" name="Picture 1">
              <a:extLst>
                <a:ext uri="{FF2B5EF4-FFF2-40B4-BE49-F238E27FC236}">
                  <a16:creationId xmlns:a16="http://schemas.microsoft.com/office/drawing/2014/main" id="{9B67DA93-B452-BA51-980E-B9E31DE3E2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913505" cy="1979930"/>
            </a:xfrm>
            <a:prstGeom prst="rect">
              <a:avLst/>
            </a:prstGeom>
          </p:spPr>
        </p:pic>
        <p:sp>
          <p:nvSpPr>
            <p:cNvPr id="4" name="Text Box 2">
              <a:extLst>
                <a:ext uri="{FF2B5EF4-FFF2-40B4-BE49-F238E27FC236}">
                  <a16:creationId xmlns:a16="http://schemas.microsoft.com/office/drawing/2014/main" id="{C5E7B8A7-98D5-A733-745D-86AA52432795}"/>
                </a:ext>
              </a:extLst>
            </p:cNvPr>
            <p:cNvSpPr txBox="1">
              <a:spLocks noChangeArrowheads="1"/>
            </p:cNvSpPr>
            <p:nvPr/>
          </p:nvSpPr>
          <p:spPr bwMode="auto">
            <a:xfrm>
              <a:off x="137424" y="2121016"/>
              <a:ext cx="3776081" cy="334701"/>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buNone/>
              </a:pPr>
              <a:r>
                <a:rPr lang="en-US" sz="2400" i="1" dirty="0">
                  <a:effectLst/>
                  <a:latin typeface="Times New Roman" panose="02020603050405020304" pitchFamily="18" charset="0"/>
                  <a:ea typeface="Arial" panose="020B0604020202020204" pitchFamily="34" charset="0"/>
                </a:rPr>
                <a:t>Figure A4. Official </a:t>
              </a:r>
              <a:r>
                <a:rPr lang="en-US" sz="2400" i="1" dirty="0" err="1">
                  <a:effectLst/>
                  <a:latin typeface="Times New Roman" panose="02020603050405020304" pitchFamily="18" charset="0"/>
                  <a:ea typeface="Arial" panose="020B0604020202020204" pitchFamily="34" charset="0"/>
                </a:rPr>
                <a:t>PyTorch</a:t>
              </a:r>
              <a:r>
                <a:rPr lang="en-US" sz="2400" i="1" dirty="0">
                  <a:effectLst/>
                  <a:latin typeface="Times New Roman" panose="02020603050405020304" pitchFamily="18" charset="0"/>
                  <a:ea typeface="Arial" panose="020B0604020202020204" pitchFamily="34" charset="0"/>
                </a:rPr>
                <a:t> documentation for </a:t>
              </a:r>
              <a:r>
                <a:rPr lang="en-US" sz="2400" i="1" dirty="0" err="1">
                  <a:effectLst/>
                  <a:latin typeface="Times New Roman" panose="02020603050405020304" pitchFamily="18" charset="0"/>
                  <a:ea typeface="Arial" panose="020B0604020202020204" pitchFamily="34" charset="0"/>
                </a:rPr>
                <a:t>CrossEntropyLoss</a:t>
              </a:r>
              <a:r>
                <a:rPr lang="en-US" sz="2400" i="1" dirty="0">
                  <a:effectLst/>
                  <a:latin typeface="Times New Roman" panose="02020603050405020304" pitchFamily="18" charset="0"/>
                  <a:ea typeface="Arial" panose="020B0604020202020204" pitchFamily="34" charset="0"/>
                </a:rPr>
                <a:t>, indicating that the loss function internally applies </a:t>
              </a:r>
              <a:r>
                <a:rPr lang="en-US" sz="2400" i="1" dirty="0" err="1">
                  <a:effectLst/>
                  <a:latin typeface="Times New Roman" panose="02020603050405020304" pitchFamily="18" charset="0"/>
                  <a:ea typeface="Arial" panose="020B0604020202020204" pitchFamily="34" charset="0"/>
                </a:rPr>
                <a:t>LogSoftmax</a:t>
              </a:r>
              <a:r>
                <a:rPr lang="en-US" sz="2400" i="1" dirty="0">
                  <a:effectLst/>
                  <a:latin typeface="Times New Roman" panose="02020603050405020304" pitchFamily="18" charset="0"/>
                  <a:ea typeface="Arial" panose="020B0604020202020204" pitchFamily="34" charset="0"/>
                </a:rPr>
                <a:t> before </a:t>
              </a:r>
              <a:r>
                <a:rPr lang="en-US" sz="2400" i="1" dirty="0" err="1">
                  <a:effectLst/>
                  <a:latin typeface="Times New Roman" panose="02020603050405020304" pitchFamily="18" charset="0"/>
                  <a:ea typeface="Arial" panose="020B0604020202020204" pitchFamily="34" charset="0"/>
                </a:rPr>
                <a:t>NLLLoss</a:t>
              </a:r>
              <a:r>
                <a:rPr lang="en-US" sz="2400" i="1" dirty="0">
                  <a:effectLst/>
                  <a:latin typeface="Times New Roman" panose="02020603050405020304" pitchFamily="18" charset="0"/>
                  <a:ea typeface="Arial" panose="020B0604020202020204" pitchFamily="34" charset="0"/>
                </a:rPr>
                <a:t>.</a:t>
              </a:r>
              <a:endParaRPr lang="en-US" sz="2400" dirty="0">
                <a:effectLst/>
                <a:latin typeface="Arial" panose="020B0604020202020204" pitchFamily="34" charset="0"/>
                <a:ea typeface="Arial" panose="020B0604020202020204" pitchFamily="34" charset="0"/>
              </a:endParaRPr>
            </a:p>
          </p:txBody>
        </p:sp>
      </p:grpSp>
    </p:spTree>
    <p:extLst>
      <p:ext uri="{BB962C8B-B14F-4D97-AF65-F5344CB8AC3E}">
        <p14:creationId xmlns:p14="http://schemas.microsoft.com/office/powerpoint/2010/main" val="3110481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A2C2899-D9A4-3AB0-B38C-B8C2FB9546D4}"/>
              </a:ext>
            </a:extLst>
          </p:cNvPr>
          <p:cNvGrpSpPr/>
          <p:nvPr/>
        </p:nvGrpSpPr>
        <p:grpSpPr>
          <a:xfrm>
            <a:off x="833377" y="405114"/>
            <a:ext cx="10232019" cy="6261904"/>
            <a:chOff x="0" y="0"/>
            <a:chExt cx="3915410" cy="2048512"/>
          </a:xfrm>
        </p:grpSpPr>
        <p:pic>
          <p:nvPicPr>
            <p:cNvPr id="3" name="Picture 2">
              <a:extLst>
                <a:ext uri="{FF2B5EF4-FFF2-40B4-BE49-F238E27FC236}">
                  <a16:creationId xmlns:a16="http://schemas.microsoft.com/office/drawing/2014/main" id="{0E71225E-6DB3-429D-FE30-BCBDB8D008A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915410" cy="1656080"/>
            </a:xfrm>
            <a:prstGeom prst="rect">
              <a:avLst/>
            </a:prstGeom>
            <a:noFill/>
            <a:ln>
              <a:noFill/>
            </a:ln>
          </p:spPr>
        </p:pic>
        <p:sp>
          <p:nvSpPr>
            <p:cNvPr id="4" name="Text Box 2">
              <a:extLst>
                <a:ext uri="{FF2B5EF4-FFF2-40B4-BE49-F238E27FC236}">
                  <a16:creationId xmlns:a16="http://schemas.microsoft.com/office/drawing/2014/main" id="{E7B8299C-AD97-31AE-5E7F-19FF3C0A6119}"/>
                </a:ext>
              </a:extLst>
            </p:cNvPr>
            <p:cNvSpPr txBox="1">
              <a:spLocks noChangeArrowheads="1"/>
            </p:cNvSpPr>
            <p:nvPr/>
          </p:nvSpPr>
          <p:spPr bwMode="auto">
            <a:xfrm>
              <a:off x="114299" y="1713868"/>
              <a:ext cx="3721271" cy="33464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l" rtl="0">
                <a:buNone/>
              </a:pPr>
              <a:r>
                <a:rPr lang="en-IL" sz="2400" i="1">
                  <a:effectLst/>
                  <a:latin typeface="Times New Roman" panose="02020603050405020304" pitchFamily="18" charset="0"/>
                  <a:ea typeface="Arial" panose="020B0604020202020204" pitchFamily="34" charset="0"/>
                </a:rPr>
                <a:t>Figure A2: Confusion matrices for InitialCNN and ImprovedCNN on the CIFAR-10 test set.</a:t>
              </a:r>
              <a:endParaRPr lang="en-IL" sz="2400">
                <a:effectLst/>
                <a:latin typeface="Arial" panose="020B0604020202020204" pitchFamily="34" charset="0"/>
                <a:ea typeface="Arial" panose="020B0604020202020204" pitchFamily="34" charset="0"/>
              </a:endParaRPr>
            </a:p>
          </p:txBody>
        </p:sp>
      </p:grpSp>
    </p:spTree>
    <p:extLst>
      <p:ext uri="{BB962C8B-B14F-4D97-AF65-F5344CB8AC3E}">
        <p14:creationId xmlns:p14="http://schemas.microsoft.com/office/powerpoint/2010/main" val="3666781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תמונה 16">
            <a:extLst>
              <a:ext uri="{FF2B5EF4-FFF2-40B4-BE49-F238E27FC236}">
                <a16:creationId xmlns:a16="http://schemas.microsoft.com/office/drawing/2014/main" id="{FBA2EE92-62D3-1946-5EB2-AE4824EA3A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508" y="753980"/>
            <a:ext cx="11914983" cy="4230848"/>
          </a:xfrm>
          <a:prstGeom prst="rect">
            <a:avLst/>
          </a:prstGeom>
        </p:spPr>
      </p:pic>
      <p:sp>
        <p:nvSpPr>
          <p:cNvPr id="3" name="תיבת טקסט 2">
            <a:extLst>
              <a:ext uri="{FF2B5EF4-FFF2-40B4-BE49-F238E27FC236}">
                <a16:creationId xmlns:a16="http://schemas.microsoft.com/office/drawing/2014/main" id="{77BCAB97-72C3-3895-49FF-875CF5247066}"/>
              </a:ext>
            </a:extLst>
          </p:cNvPr>
          <p:cNvSpPr txBox="1"/>
          <p:nvPr/>
        </p:nvSpPr>
        <p:spPr>
          <a:xfrm>
            <a:off x="577516" y="5319373"/>
            <a:ext cx="10684042" cy="1200329"/>
          </a:xfrm>
          <a:prstGeom prst="rect">
            <a:avLst/>
          </a:prstGeom>
          <a:noFill/>
        </p:spPr>
        <p:txBody>
          <a:bodyPr wrap="square">
            <a:spAutoFit/>
          </a:bodyPr>
          <a:lstStyle/>
          <a:p>
            <a:pPr algn="ctr"/>
            <a:r>
              <a:rPr lang="en-US" sz="2400" i="1" dirty="0">
                <a:latin typeface="Times New Roman" panose="02020603050405020304" pitchFamily="18" charset="0"/>
                <a:ea typeface="Arial" panose="020B0604020202020204" pitchFamily="34" charset="0"/>
              </a:rPr>
              <a:t>Figure 2:</a:t>
            </a:r>
            <a:r>
              <a:rPr lang="en-US" sz="2400" i="1" dirty="0">
                <a:effectLst/>
                <a:latin typeface="Times New Roman" panose="02020603050405020304" pitchFamily="18" charset="0"/>
                <a:ea typeface="Arial" panose="020B0604020202020204" pitchFamily="34" charset="0"/>
              </a:rPr>
              <a:t> (B) Learning curves plotting loss and accuracy for each epoch across a 15-epoch training run for new CNN (solid) and MLP (dashed). Both metrics are tracked separately for training set (blue) and test set (red).</a:t>
            </a:r>
            <a:endParaRPr lang="he-IL" sz="2400" dirty="0"/>
          </a:p>
        </p:txBody>
      </p:sp>
    </p:spTree>
    <p:extLst>
      <p:ext uri="{BB962C8B-B14F-4D97-AF65-F5344CB8AC3E}">
        <p14:creationId xmlns:p14="http://schemas.microsoft.com/office/powerpoint/2010/main" val="3978810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תמונה 28">
            <a:extLst>
              <a:ext uri="{FF2B5EF4-FFF2-40B4-BE49-F238E27FC236}">
                <a16:creationId xmlns:a16="http://schemas.microsoft.com/office/drawing/2014/main" id="{4A9938F1-3458-A067-2180-888B01EF4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448" y="614655"/>
            <a:ext cx="11378369" cy="5673850"/>
          </a:xfrm>
          <a:prstGeom prst="rect">
            <a:avLst/>
          </a:prstGeom>
        </p:spPr>
      </p:pic>
      <p:sp>
        <p:nvSpPr>
          <p:cNvPr id="2" name="TextBox 1">
            <a:extLst>
              <a:ext uri="{FF2B5EF4-FFF2-40B4-BE49-F238E27FC236}">
                <a16:creationId xmlns:a16="http://schemas.microsoft.com/office/drawing/2014/main" id="{559330CF-DAD7-AEAC-50C9-0E8BEB5E4AB0}"/>
              </a:ext>
            </a:extLst>
          </p:cNvPr>
          <p:cNvSpPr txBox="1"/>
          <p:nvPr/>
        </p:nvSpPr>
        <p:spPr>
          <a:xfrm>
            <a:off x="9192099" y="4062713"/>
            <a:ext cx="2627453" cy="2800767"/>
          </a:xfrm>
          <a:prstGeom prst="rect">
            <a:avLst/>
          </a:prstGeom>
          <a:noFill/>
        </p:spPr>
        <p:txBody>
          <a:bodyPr wrap="square" rtlCol="0">
            <a:spAutoFit/>
          </a:bodyPr>
          <a:lstStyle/>
          <a:p>
            <a:pPr algn="l" rtl="0"/>
            <a:r>
              <a:rPr lang="en-IL" sz="2200" i="1" dirty="0">
                <a:latin typeface="Times New Roman" panose="02020603050405020304" pitchFamily="18" charset="0"/>
                <a:cs typeface="Times New Roman" panose="02020603050405020304" pitchFamily="18" charset="0"/>
              </a:rPr>
              <a:t>Figure 2. (B) Average gradient norm for key parameter across epochs 1–15 for </a:t>
            </a:r>
            <a:r>
              <a:rPr lang="en-IL" sz="2200" i="1" dirty="0" err="1">
                <a:latin typeface="Times New Roman" panose="02020603050405020304" pitchFamily="18" charset="0"/>
                <a:cs typeface="Times New Roman" panose="02020603050405020304" pitchFamily="18" charset="0"/>
              </a:rPr>
              <a:t>InitialCNN</a:t>
            </a:r>
            <a:r>
              <a:rPr lang="en-IL" sz="2200" i="1" dirty="0">
                <a:latin typeface="Times New Roman" panose="02020603050405020304" pitchFamily="18" charset="0"/>
                <a:cs typeface="Times New Roman" panose="02020603050405020304" pitchFamily="18" charset="0"/>
              </a:rPr>
              <a:t> (solid) and </a:t>
            </a:r>
            <a:r>
              <a:rPr lang="en-IL" sz="2200" i="1" dirty="0" err="1">
                <a:latin typeface="Times New Roman" panose="02020603050405020304" pitchFamily="18" charset="0"/>
                <a:cs typeface="Times New Roman" panose="02020603050405020304" pitchFamily="18" charset="0"/>
              </a:rPr>
              <a:t>ImprovedCNN</a:t>
            </a:r>
            <a:r>
              <a:rPr lang="en-IL" sz="2200" i="1" dirty="0">
                <a:latin typeface="Times New Roman" panose="02020603050405020304" pitchFamily="18" charset="0"/>
                <a:cs typeface="Times New Roman" panose="02020603050405020304" pitchFamily="18" charset="0"/>
              </a:rPr>
              <a:t> (dashed).</a:t>
            </a:r>
            <a:r>
              <a:rPr lang="en-IL" sz="2200" dirty="0">
                <a:latin typeface="Times New Roman" panose="02020603050405020304" pitchFamily="18" charset="0"/>
                <a:cs typeface="Times New Roman" panose="02020603050405020304" pitchFamily="18" charset="0"/>
              </a:rPr>
              <a:t> </a:t>
            </a:r>
          </a:p>
          <a:p>
            <a:pPr algn="l" rtl="0"/>
            <a:endParaRPr lang="en-IL"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33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תמונה 18">
            <a:extLst>
              <a:ext uri="{FF2B5EF4-FFF2-40B4-BE49-F238E27FC236}">
                <a16:creationId xmlns:a16="http://schemas.microsoft.com/office/drawing/2014/main" id="{54BE249E-CBF5-2E82-A6D4-7A82FAB6A6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820" y="781419"/>
            <a:ext cx="11484360" cy="4860757"/>
          </a:xfrm>
          <a:prstGeom prst="rect">
            <a:avLst/>
          </a:prstGeom>
        </p:spPr>
      </p:pic>
      <p:sp>
        <p:nvSpPr>
          <p:cNvPr id="2" name="Text Box 2">
            <a:extLst>
              <a:ext uri="{FF2B5EF4-FFF2-40B4-BE49-F238E27FC236}">
                <a16:creationId xmlns:a16="http://schemas.microsoft.com/office/drawing/2014/main" id="{D22F4F49-6525-2A8C-06BB-88C133460CC2}"/>
              </a:ext>
            </a:extLst>
          </p:cNvPr>
          <p:cNvSpPr txBox="1">
            <a:spLocks noChangeArrowheads="1"/>
          </p:cNvSpPr>
          <p:nvPr/>
        </p:nvSpPr>
        <p:spPr bwMode="auto">
          <a:xfrm>
            <a:off x="2085474" y="5849669"/>
            <a:ext cx="8021052" cy="45382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buNone/>
            </a:pPr>
            <a:r>
              <a:rPr lang="en-US" sz="2400" i="1" dirty="0">
                <a:effectLst/>
                <a:latin typeface="Times New Roman" panose="02020603050405020304" pitchFamily="18" charset="0"/>
                <a:ea typeface="Arial" panose="020B0604020202020204" pitchFamily="34" charset="0"/>
              </a:rPr>
              <a:t>Figure 3: (A) Confusion matrices for </a:t>
            </a:r>
            <a:r>
              <a:rPr lang="en-US" sz="2400" i="1" dirty="0" err="1">
                <a:effectLst/>
                <a:latin typeface="Times New Roman" panose="02020603050405020304" pitchFamily="18" charset="0"/>
                <a:ea typeface="Arial" panose="020B0604020202020204" pitchFamily="34" charset="0"/>
              </a:rPr>
              <a:t>ImprovedCNN</a:t>
            </a:r>
            <a:r>
              <a:rPr lang="en-US" sz="2400" i="1" dirty="0">
                <a:effectLst/>
                <a:latin typeface="Times New Roman" panose="02020603050405020304" pitchFamily="18" charset="0"/>
                <a:ea typeface="Arial" panose="020B0604020202020204" pitchFamily="34" charset="0"/>
              </a:rPr>
              <a:t> and MLP.</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159239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תמונה 34">
            <a:extLst>
              <a:ext uri="{FF2B5EF4-FFF2-40B4-BE49-F238E27FC236}">
                <a16:creationId xmlns:a16="http://schemas.microsoft.com/office/drawing/2014/main" id="{4F4C7159-F2BC-D00F-F823-8E126A6838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022" y="1475874"/>
            <a:ext cx="11870472" cy="4215043"/>
          </a:xfrm>
          <a:prstGeom prst="rect">
            <a:avLst/>
          </a:prstGeom>
        </p:spPr>
      </p:pic>
      <p:sp>
        <p:nvSpPr>
          <p:cNvPr id="2" name="TextBox 1">
            <a:extLst>
              <a:ext uri="{FF2B5EF4-FFF2-40B4-BE49-F238E27FC236}">
                <a16:creationId xmlns:a16="http://schemas.microsoft.com/office/drawing/2014/main" id="{F34E9BE6-D1E2-4B8D-1C86-0B112DCB662D}"/>
              </a:ext>
            </a:extLst>
          </p:cNvPr>
          <p:cNvSpPr txBox="1"/>
          <p:nvPr/>
        </p:nvSpPr>
        <p:spPr>
          <a:xfrm>
            <a:off x="567158" y="5486400"/>
            <a:ext cx="11624841" cy="1200329"/>
          </a:xfrm>
          <a:prstGeom prst="rect">
            <a:avLst/>
          </a:prstGeom>
          <a:noFill/>
        </p:spPr>
        <p:txBody>
          <a:bodyPr wrap="square" rtlCol="0">
            <a:spAutoFit/>
          </a:bodyPr>
          <a:lstStyle/>
          <a:p>
            <a:pPr algn="l" rtl="0"/>
            <a:r>
              <a:rPr lang="en-IL" sz="2400" i="1" dirty="0">
                <a:latin typeface="Times New Roman" panose="02020603050405020304" pitchFamily="18" charset="0"/>
                <a:cs typeface="Times New Roman" panose="02020603050405020304" pitchFamily="18" charset="0"/>
              </a:rPr>
              <a:t>Figure 3 (B) Learning curves plotting loss and accuracy for each epoch across a 15-epoch training run for new CNN (solid) and MLP (dashed). Both metrics are tracked separately for training set (blue) and test set (red).</a:t>
            </a:r>
            <a:endParaRPr lang="en-IL"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451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תמונה 12">
            <a:extLst>
              <a:ext uri="{FF2B5EF4-FFF2-40B4-BE49-F238E27FC236}">
                <a16:creationId xmlns:a16="http://schemas.microsoft.com/office/drawing/2014/main" id="{8D2EFF52-86FB-A6C8-A501-D4A545BE11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722" y="304963"/>
            <a:ext cx="10757707" cy="5444546"/>
          </a:xfrm>
          <a:prstGeom prst="rect">
            <a:avLst/>
          </a:prstGeom>
        </p:spPr>
      </p:pic>
      <p:sp>
        <p:nvSpPr>
          <p:cNvPr id="3" name="Text Box 2">
            <a:extLst>
              <a:ext uri="{FF2B5EF4-FFF2-40B4-BE49-F238E27FC236}">
                <a16:creationId xmlns:a16="http://schemas.microsoft.com/office/drawing/2014/main" id="{D6E852FB-010F-F3BF-E19D-CBC45A462994}"/>
              </a:ext>
            </a:extLst>
          </p:cNvPr>
          <p:cNvSpPr txBox="1">
            <a:spLocks noChangeArrowheads="1"/>
          </p:cNvSpPr>
          <p:nvPr/>
        </p:nvSpPr>
        <p:spPr bwMode="auto">
          <a:xfrm>
            <a:off x="477732" y="5917453"/>
            <a:ext cx="11309685" cy="63558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buNone/>
            </a:pPr>
            <a:r>
              <a:rPr lang="en-US" sz="2400" i="1" dirty="0">
                <a:effectLst/>
                <a:latin typeface="Times New Roman" panose="02020603050405020304" pitchFamily="18" charset="0"/>
                <a:ea typeface="Arial" panose="020B0604020202020204" pitchFamily="34" charset="0"/>
              </a:rPr>
              <a:t>Figure 4: (A) Learned conv1 filters for </a:t>
            </a:r>
            <a:r>
              <a:rPr lang="en-US" sz="2400" i="1" dirty="0" err="1">
                <a:effectLst/>
                <a:latin typeface="Times New Roman" panose="02020603050405020304" pitchFamily="18" charset="0"/>
                <a:ea typeface="Arial" panose="020B0604020202020204" pitchFamily="34" charset="0"/>
              </a:rPr>
              <a:t>ImprovedCNN</a:t>
            </a:r>
            <a:r>
              <a:rPr lang="en-US" sz="2400" i="1" dirty="0">
                <a:effectLst/>
                <a:latin typeface="Times New Roman" panose="02020603050405020304" pitchFamily="18" charset="0"/>
                <a:ea typeface="Arial" panose="020B0604020202020204" pitchFamily="34" charset="0"/>
              </a:rPr>
              <a:t> (64 filters, 3×3×3). </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4072640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תמונה 32">
            <a:extLst>
              <a:ext uri="{FF2B5EF4-FFF2-40B4-BE49-F238E27FC236}">
                <a16:creationId xmlns:a16="http://schemas.microsoft.com/office/drawing/2014/main" id="{C83F4BEB-F0FE-17A4-2305-8CBAC35B68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27" y="455933"/>
            <a:ext cx="10392946" cy="5259938"/>
          </a:xfrm>
          <a:prstGeom prst="rect">
            <a:avLst/>
          </a:prstGeom>
        </p:spPr>
      </p:pic>
      <p:sp>
        <p:nvSpPr>
          <p:cNvPr id="3" name="תיבת טקסט 2">
            <a:extLst>
              <a:ext uri="{FF2B5EF4-FFF2-40B4-BE49-F238E27FC236}">
                <a16:creationId xmlns:a16="http://schemas.microsoft.com/office/drawing/2014/main" id="{C9875C0A-E69C-458A-BD55-00112F4A6DFD}"/>
              </a:ext>
            </a:extLst>
          </p:cNvPr>
          <p:cNvSpPr txBox="1"/>
          <p:nvPr/>
        </p:nvSpPr>
        <p:spPr>
          <a:xfrm>
            <a:off x="449179" y="5986568"/>
            <a:ext cx="11349788" cy="461665"/>
          </a:xfrm>
          <a:prstGeom prst="rect">
            <a:avLst/>
          </a:prstGeom>
          <a:noFill/>
        </p:spPr>
        <p:txBody>
          <a:bodyPr wrap="square">
            <a:spAutoFit/>
          </a:bodyPr>
          <a:lstStyle/>
          <a:p>
            <a:pPr algn="ctr">
              <a:buNone/>
            </a:pPr>
            <a:r>
              <a:rPr lang="en-US" sz="2400" i="1" dirty="0">
                <a:effectLst/>
                <a:latin typeface="Times New Roman" panose="02020603050405020304" pitchFamily="18" charset="0"/>
                <a:ea typeface="Arial" panose="020B0604020202020204" pitchFamily="34" charset="0"/>
              </a:rPr>
              <a:t>Figure 4: (B) FC1 learned weights for </a:t>
            </a:r>
            <a:r>
              <a:rPr lang="en-US" sz="2400" i="1" dirty="0" err="1">
                <a:effectLst/>
                <a:latin typeface="Times New Roman" panose="02020603050405020304" pitchFamily="18" charset="0"/>
                <a:ea typeface="Arial" panose="020B0604020202020204" pitchFamily="34" charset="0"/>
              </a:rPr>
              <a:t>InitialMLP</a:t>
            </a:r>
            <a:r>
              <a:rPr lang="en-US" sz="2400" i="1" dirty="0">
                <a:effectLst/>
                <a:latin typeface="Times New Roman" panose="02020603050405020304" pitchFamily="18" charset="0"/>
                <a:ea typeface="Arial" panose="020B0604020202020204" pitchFamily="34" charset="0"/>
              </a:rPr>
              <a:t> (first 32 neurons, reshaped to 32×32×3).</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528982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תמונה 36">
            <a:extLst>
              <a:ext uri="{FF2B5EF4-FFF2-40B4-BE49-F238E27FC236}">
                <a16:creationId xmlns:a16="http://schemas.microsoft.com/office/drawing/2014/main" id="{7B2B2D5A-CC9D-9A11-AA34-316D14B305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4485" y="326570"/>
            <a:ext cx="7899712" cy="6531430"/>
          </a:xfrm>
          <a:prstGeom prst="rect">
            <a:avLst/>
          </a:prstGeom>
        </p:spPr>
      </p:pic>
      <p:sp>
        <p:nvSpPr>
          <p:cNvPr id="2" name="Text Box 2">
            <a:extLst>
              <a:ext uri="{FF2B5EF4-FFF2-40B4-BE49-F238E27FC236}">
                <a16:creationId xmlns:a16="http://schemas.microsoft.com/office/drawing/2014/main" id="{345D4ACD-BF48-D70F-8F75-7BC4ABF62CE9}"/>
              </a:ext>
            </a:extLst>
          </p:cNvPr>
          <p:cNvSpPr txBox="1">
            <a:spLocks noChangeArrowheads="1"/>
          </p:cNvSpPr>
          <p:nvPr/>
        </p:nvSpPr>
        <p:spPr bwMode="auto">
          <a:xfrm>
            <a:off x="297804" y="1293997"/>
            <a:ext cx="3696680" cy="70866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l">
              <a:buNone/>
            </a:pPr>
            <a:r>
              <a:rPr lang="en-US" sz="2400" i="1" dirty="0">
                <a:effectLst/>
                <a:latin typeface="Times New Roman" panose="02020603050405020304" pitchFamily="18" charset="0"/>
                <a:ea typeface="Arial" panose="020B0604020202020204" pitchFamily="34" charset="0"/>
              </a:rPr>
              <a:t>Figure 5:</a:t>
            </a:r>
            <a:r>
              <a:rPr lang="en-US" sz="2400" i="1" dirty="0">
                <a:effectLst/>
                <a:latin typeface="Arial" panose="020B0604020202020204" pitchFamily="34" charset="0"/>
                <a:ea typeface="Arial" panose="020B0604020202020204" pitchFamily="34" charset="0"/>
              </a:rPr>
              <a:t> </a:t>
            </a:r>
            <a:r>
              <a:rPr lang="en-US" sz="2400" i="1" dirty="0">
                <a:effectLst/>
                <a:latin typeface="Times New Roman" panose="02020603050405020304" pitchFamily="18" charset="0"/>
                <a:ea typeface="Arial" panose="020B0604020202020204" pitchFamily="34" charset="0"/>
              </a:rPr>
              <a:t>(A) Loss curves and (B) accuracy curves across 15 epochs for the baseline </a:t>
            </a:r>
            <a:r>
              <a:rPr lang="en-US" sz="2400" i="1" dirty="0" err="1">
                <a:effectLst/>
                <a:latin typeface="Times New Roman" panose="02020603050405020304" pitchFamily="18" charset="0"/>
                <a:ea typeface="Arial" panose="020B0604020202020204" pitchFamily="34" charset="0"/>
              </a:rPr>
              <a:t>ImprovedCNN</a:t>
            </a:r>
            <a:r>
              <a:rPr lang="en-US" sz="2400" i="1" dirty="0">
                <a:effectLst/>
                <a:latin typeface="Times New Roman" panose="02020603050405020304" pitchFamily="18" charset="0"/>
                <a:ea typeface="Arial" panose="020B0604020202020204" pitchFamily="34" charset="0"/>
              </a:rPr>
              <a:t> (red), early stopping (blue), and weight decay (green). Both metrics are tracked separately for training set (dashed) and test set (solid). Vertical markers indicate best model saved (epoch 8, dotted) and training stopped (epoch 11, solid).</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331985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D77C0E99-963A-F8E9-83BA-C83DEFBD6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191" y="0"/>
            <a:ext cx="8212039" cy="6858000"/>
          </a:xfrm>
          <a:prstGeom prst="rect">
            <a:avLst/>
          </a:prstGeom>
        </p:spPr>
      </p:pic>
      <p:sp>
        <p:nvSpPr>
          <p:cNvPr id="4" name="Text Box 2">
            <a:extLst>
              <a:ext uri="{FF2B5EF4-FFF2-40B4-BE49-F238E27FC236}">
                <a16:creationId xmlns:a16="http://schemas.microsoft.com/office/drawing/2014/main" id="{548CDC30-5397-7154-AA1B-8D4BE33914B0}"/>
              </a:ext>
            </a:extLst>
          </p:cNvPr>
          <p:cNvSpPr txBox="1">
            <a:spLocks noChangeArrowheads="1"/>
          </p:cNvSpPr>
          <p:nvPr/>
        </p:nvSpPr>
        <p:spPr bwMode="auto">
          <a:xfrm>
            <a:off x="545431" y="656823"/>
            <a:ext cx="2173521" cy="2278881"/>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l">
              <a:buNone/>
            </a:pPr>
            <a:r>
              <a:rPr lang="en-US" sz="2400" i="1" dirty="0">
                <a:effectLst/>
                <a:latin typeface="Times New Roman" panose="02020603050405020304" pitchFamily="18" charset="0"/>
                <a:ea typeface="Times New Roman" panose="02020603050405020304" pitchFamily="18" charset="0"/>
              </a:rPr>
              <a:t>Figure A5. Effect of each augmentation on a sample CIFAR-10 image (horse). Each row shows one of the three applied transformations with five different random seeds. Column 1 is the unmodified original.</a:t>
            </a:r>
            <a:endParaRPr lang="en-US" sz="2400" dirty="0">
              <a:effectLst/>
              <a:latin typeface="Times New Roman" panose="02020603050405020304" pitchFamily="18" charset="0"/>
              <a:ea typeface="Times New Roman" panose="02020603050405020304" pitchFamily="18" charset="0"/>
            </a:endParaRPr>
          </a:p>
          <a:p>
            <a:pPr>
              <a:buNone/>
            </a:pPr>
            <a:r>
              <a:rPr lang="en-US" sz="800" dirty="0">
                <a:effectLst/>
                <a:latin typeface="Arial" panose="020B0604020202020204" pitchFamily="34" charset="0"/>
                <a:ea typeface="Arial" panose="020B0604020202020204" pitchFamily="34" charset="0"/>
              </a:rPr>
              <a:t> </a:t>
            </a:r>
            <a:endParaRPr lang="en-US" sz="11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4258145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3E7C5F09-2C2F-E89C-DF3F-26721F46B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223" y="1037372"/>
            <a:ext cx="11657553" cy="4783256"/>
          </a:xfrm>
          <a:prstGeom prst="rect">
            <a:avLst/>
          </a:prstGeom>
        </p:spPr>
      </p:pic>
      <p:sp>
        <p:nvSpPr>
          <p:cNvPr id="3" name="תיבת טקסט 2">
            <a:extLst>
              <a:ext uri="{FF2B5EF4-FFF2-40B4-BE49-F238E27FC236}">
                <a16:creationId xmlns:a16="http://schemas.microsoft.com/office/drawing/2014/main" id="{45CEEDDD-F631-09FA-3DE5-7E2EC90699FF}"/>
              </a:ext>
            </a:extLst>
          </p:cNvPr>
          <p:cNvSpPr txBox="1"/>
          <p:nvPr/>
        </p:nvSpPr>
        <p:spPr>
          <a:xfrm>
            <a:off x="1090862" y="5820628"/>
            <a:ext cx="10459453" cy="830997"/>
          </a:xfrm>
          <a:prstGeom prst="rect">
            <a:avLst/>
          </a:prstGeom>
          <a:noFill/>
        </p:spPr>
        <p:txBody>
          <a:bodyPr wrap="square">
            <a:spAutoFit/>
          </a:bodyPr>
          <a:lstStyle/>
          <a:p>
            <a:pPr algn="ctr">
              <a:buNone/>
            </a:pPr>
            <a:r>
              <a:rPr lang="en-US" sz="2400" i="1" dirty="0">
                <a:effectLst/>
                <a:latin typeface="Times New Roman" panose="02020603050405020304" pitchFamily="18" charset="0"/>
                <a:ea typeface="Times New Roman" panose="02020603050405020304" pitchFamily="18" charset="0"/>
              </a:rPr>
              <a:t>Figure 6. (A) Per-class F1 score for </a:t>
            </a:r>
            <a:r>
              <a:rPr lang="en-US" sz="2400" i="1" dirty="0" err="1">
                <a:effectLst/>
                <a:latin typeface="Times New Roman" panose="02020603050405020304" pitchFamily="18" charset="0"/>
                <a:ea typeface="Times New Roman" panose="02020603050405020304" pitchFamily="18" charset="0"/>
              </a:rPr>
              <a:t>ImprovedCNN</a:t>
            </a:r>
            <a:r>
              <a:rPr lang="en-US" sz="2400" i="1" dirty="0">
                <a:effectLst/>
                <a:latin typeface="Times New Roman" panose="02020603050405020304" pitchFamily="18" charset="0"/>
                <a:ea typeface="Times New Roman" panose="02020603050405020304" pitchFamily="18" charset="0"/>
              </a:rPr>
              <a:t> (blue bars) and </a:t>
            </a:r>
            <a:r>
              <a:rPr lang="en-US" sz="2400" i="1" dirty="0" err="1">
                <a:effectLst/>
                <a:latin typeface="Times New Roman" panose="02020603050405020304" pitchFamily="18" charset="0"/>
                <a:ea typeface="Times New Roman" panose="02020603050405020304" pitchFamily="18" charset="0"/>
              </a:rPr>
              <a:t>AugmentedCNN</a:t>
            </a:r>
            <a:r>
              <a:rPr lang="en-US" sz="2400" i="1" dirty="0">
                <a:effectLst/>
                <a:latin typeface="Times New Roman" panose="02020603050405020304" pitchFamily="18" charset="0"/>
                <a:ea typeface="Times New Roman" panose="02020603050405020304" pitchFamily="18" charset="0"/>
              </a:rPr>
              <a:t> (red bars). Dashed lines show macro F1 averages for each model. </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14714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C647FAB0-9D8F-B17A-5D39-CB36683B8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7393"/>
            <a:ext cx="12192000" cy="5160266"/>
          </a:xfrm>
          <a:prstGeom prst="rect">
            <a:avLst/>
          </a:prstGeom>
        </p:spPr>
      </p:pic>
      <p:sp>
        <p:nvSpPr>
          <p:cNvPr id="4" name="תיבת טקסט 3">
            <a:extLst>
              <a:ext uri="{FF2B5EF4-FFF2-40B4-BE49-F238E27FC236}">
                <a16:creationId xmlns:a16="http://schemas.microsoft.com/office/drawing/2014/main" id="{DA43C14E-4C5C-B8FD-1ABD-B8644D699E42}"/>
              </a:ext>
            </a:extLst>
          </p:cNvPr>
          <p:cNvSpPr txBox="1"/>
          <p:nvPr/>
        </p:nvSpPr>
        <p:spPr>
          <a:xfrm>
            <a:off x="2221831" y="5739610"/>
            <a:ext cx="7748337" cy="830997"/>
          </a:xfrm>
          <a:prstGeom prst="rect">
            <a:avLst/>
          </a:prstGeom>
          <a:noFill/>
        </p:spPr>
        <p:txBody>
          <a:bodyPr wrap="square">
            <a:spAutoFit/>
          </a:bodyPr>
          <a:lstStyle/>
          <a:p>
            <a:pPr algn="ctr">
              <a:buNone/>
            </a:pPr>
            <a:r>
              <a:rPr lang="en-US" sz="2400" i="1" dirty="0">
                <a:effectLst/>
                <a:latin typeface="Times New Roman" panose="02020603050405020304" pitchFamily="18" charset="0"/>
                <a:ea typeface="Times New Roman" panose="02020603050405020304" pitchFamily="18" charset="0"/>
              </a:rPr>
              <a:t>Figure 6. (B) Confusion matrices for </a:t>
            </a:r>
            <a:r>
              <a:rPr lang="en-US" sz="2400" i="1" dirty="0" err="1">
                <a:effectLst/>
                <a:latin typeface="Times New Roman" panose="02020603050405020304" pitchFamily="18" charset="0"/>
                <a:ea typeface="Times New Roman" panose="02020603050405020304" pitchFamily="18" charset="0"/>
              </a:rPr>
              <a:t>AugmentedCNN</a:t>
            </a:r>
            <a:r>
              <a:rPr lang="en-US" sz="2400" i="1" dirty="0">
                <a:effectLst/>
                <a:latin typeface="Times New Roman" panose="02020603050405020304" pitchFamily="18" charset="0"/>
                <a:ea typeface="Times New Roman" panose="02020603050405020304" pitchFamily="18" charset="0"/>
              </a:rPr>
              <a:t>. Values show raw counts out of 1,000 test samples per class. </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25920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0E666F17-03BF-3343-1887-37689129F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6996"/>
            <a:ext cx="12192000" cy="4329213"/>
          </a:xfrm>
          <a:prstGeom prst="rect">
            <a:avLst/>
          </a:prstGeom>
        </p:spPr>
      </p:pic>
      <p:sp>
        <p:nvSpPr>
          <p:cNvPr id="3" name="תיבת טקסט 2">
            <a:extLst>
              <a:ext uri="{FF2B5EF4-FFF2-40B4-BE49-F238E27FC236}">
                <a16:creationId xmlns:a16="http://schemas.microsoft.com/office/drawing/2014/main" id="{00999427-0178-872C-B254-7D9C1360CB27}"/>
              </a:ext>
            </a:extLst>
          </p:cNvPr>
          <p:cNvSpPr txBox="1"/>
          <p:nvPr/>
        </p:nvSpPr>
        <p:spPr>
          <a:xfrm>
            <a:off x="1042737" y="5697679"/>
            <a:ext cx="10748211" cy="830997"/>
          </a:xfrm>
          <a:prstGeom prst="rect">
            <a:avLst/>
          </a:prstGeom>
          <a:noFill/>
        </p:spPr>
        <p:txBody>
          <a:bodyPr wrap="square">
            <a:spAutoFit/>
          </a:bodyPr>
          <a:lstStyle/>
          <a:p>
            <a:pPr algn="ctr">
              <a:buNone/>
            </a:pPr>
            <a:r>
              <a:rPr lang="en-US" sz="2400" i="1" dirty="0">
                <a:effectLst/>
                <a:latin typeface="Times New Roman" panose="02020603050405020304" pitchFamily="18" charset="0"/>
                <a:ea typeface="Times New Roman" panose="02020603050405020304" pitchFamily="18" charset="0"/>
              </a:rPr>
              <a:t>Figure 6. (C) Loss and accuracy learning curves for </a:t>
            </a:r>
            <a:r>
              <a:rPr lang="en-US" sz="2400" i="1" dirty="0" err="1">
                <a:effectLst/>
                <a:latin typeface="Times New Roman" panose="02020603050405020304" pitchFamily="18" charset="0"/>
                <a:ea typeface="Times New Roman" panose="02020603050405020304" pitchFamily="18" charset="0"/>
              </a:rPr>
              <a:t>ImprovedCNN</a:t>
            </a:r>
            <a:r>
              <a:rPr lang="en-US" sz="2400" i="1" dirty="0">
                <a:effectLst/>
                <a:latin typeface="Times New Roman" panose="02020603050405020304" pitchFamily="18" charset="0"/>
                <a:ea typeface="Times New Roman" panose="02020603050405020304" pitchFamily="18" charset="0"/>
              </a:rPr>
              <a:t> (solid lines, 15 epochs) and </a:t>
            </a:r>
            <a:r>
              <a:rPr lang="en-US" sz="2400" i="1" dirty="0" err="1">
                <a:effectLst/>
                <a:latin typeface="Times New Roman" panose="02020603050405020304" pitchFamily="18" charset="0"/>
                <a:ea typeface="Times New Roman" panose="02020603050405020304" pitchFamily="18" charset="0"/>
              </a:rPr>
              <a:t>AugmentedCNN</a:t>
            </a:r>
            <a:r>
              <a:rPr lang="en-US" sz="2400" i="1" dirty="0">
                <a:effectLst/>
                <a:latin typeface="Times New Roman" panose="02020603050405020304" pitchFamily="18" charset="0"/>
                <a:ea typeface="Times New Roman" panose="02020603050405020304" pitchFamily="18" charset="0"/>
              </a:rPr>
              <a:t> (dashed lines, 25 epochs). Blue = train, red = test.</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20087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גרפיקה 5">
            <a:extLst>
              <a:ext uri="{FF2B5EF4-FFF2-40B4-BE49-F238E27FC236}">
                <a16:creationId xmlns:a16="http://schemas.microsoft.com/office/drawing/2014/main" id="{CE76B002-9425-9A40-4729-22C0C0283AE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5979" y="353185"/>
            <a:ext cx="5839327" cy="6655313"/>
          </a:xfrm>
          <a:prstGeom prst="rect">
            <a:avLst/>
          </a:prstGeom>
        </p:spPr>
      </p:pic>
      <p:sp>
        <p:nvSpPr>
          <p:cNvPr id="3" name="תיבת טקסט 2">
            <a:extLst>
              <a:ext uri="{FF2B5EF4-FFF2-40B4-BE49-F238E27FC236}">
                <a16:creationId xmlns:a16="http://schemas.microsoft.com/office/drawing/2014/main" id="{73A4DF69-5592-62D1-DC5D-F4B012232A1F}"/>
              </a:ext>
            </a:extLst>
          </p:cNvPr>
          <p:cNvSpPr txBox="1">
            <a:spLocks noChangeArrowheads="1"/>
          </p:cNvSpPr>
          <p:nvPr/>
        </p:nvSpPr>
        <p:spPr bwMode="auto">
          <a:xfrm flipH="1">
            <a:off x="1472882" y="4700856"/>
            <a:ext cx="3150235" cy="31178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spcBef>
                <a:spcPts val="300"/>
              </a:spcBef>
              <a:spcAft>
                <a:spcPts val="500"/>
              </a:spcAft>
              <a:buNone/>
            </a:pPr>
            <a:r>
              <a:rPr lang="en-US" sz="2400" i="1" dirty="0">
                <a:effectLst/>
                <a:latin typeface="Times New Roman" panose="02020603050405020304" pitchFamily="18" charset="0"/>
                <a:ea typeface="Arial" panose="020B0604020202020204" pitchFamily="34" charset="0"/>
              </a:rPr>
              <a:t>Figure 7. Architecture of the </a:t>
            </a:r>
            <a:r>
              <a:rPr lang="en-US" sz="2400" i="1" dirty="0" err="1">
                <a:effectLst/>
                <a:latin typeface="Times New Roman" panose="02020603050405020304" pitchFamily="18" charset="0"/>
                <a:ea typeface="Arial" panose="020B0604020202020204" pitchFamily="34" charset="0"/>
              </a:rPr>
              <a:t>PatchMLP_CNN</a:t>
            </a:r>
            <a:r>
              <a:rPr lang="en-US" sz="2400" i="1" dirty="0">
                <a:effectLst/>
                <a:latin typeface="Times New Roman" panose="02020603050405020304" pitchFamily="18" charset="0"/>
                <a:ea typeface="Arial" panose="020B0604020202020204" pitchFamily="34" charset="0"/>
              </a:rPr>
              <a:t> hybrid network.</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779739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3283EF2D-03B9-127F-46AE-E3428B5F7B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655" y="1166763"/>
            <a:ext cx="11788689" cy="4065696"/>
          </a:xfrm>
          <a:prstGeom prst="rect">
            <a:avLst/>
          </a:prstGeom>
        </p:spPr>
      </p:pic>
      <p:sp>
        <p:nvSpPr>
          <p:cNvPr id="4" name="תיבת טקסט 2">
            <a:extLst>
              <a:ext uri="{FF2B5EF4-FFF2-40B4-BE49-F238E27FC236}">
                <a16:creationId xmlns:a16="http://schemas.microsoft.com/office/drawing/2014/main" id="{4E444CD6-C6FD-6B84-4887-BBF88ACF74F2}"/>
              </a:ext>
            </a:extLst>
          </p:cNvPr>
          <p:cNvSpPr txBox="1">
            <a:spLocks noChangeArrowheads="1"/>
          </p:cNvSpPr>
          <p:nvPr/>
        </p:nvSpPr>
        <p:spPr bwMode="auto">
          <a:xfrm flipH="1">
            <a:off x="794083" y="5457842"/>
            <a:ext cx="10603832" cy="830663"/>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buNone/>
            </a:pPr>
            <a:r>
              <a:rPr lang="en-US" sz="2400" i="1" dirty="0">
                <a:effectLst/>
                <a:latin typeface="Times New Roman" panose="02020603050405020304" pitchFamily="18" charset="0"/>
                <a:ea typeface="Arial" panose="020B0604020202020204" pitchFamily="34" charset="0"/>
              </a:rPr>
              <a:t>Figure 8. (A) Loss and accuracy learning curves of </a:t>
            </a:r>
            <a:r>
              <a:rPr lang="en-US" sz="2400" i="1" dirty="0" err="1">
                <a:effectLst/>
                <a:latin typeface="Times New Roman" panose="02020603050405020304" pitchFamily="18" charset="0"/>
                <a:ea typeface="Arial" panose="020B0604020202020204" pitchFamily="34" charset="0"/>
              </a:rPr>
              <a:t>ImprovedCNN</a:t>
            </a:r>
            <a:r>
              <a:rPr lang="en-US" sz="2400" i="1" dirty="0">
                <a:effectLst/>
                <a:latin typeface="Times New Roman" panose="02020603050405020304" pitchFamily="18" charset="0"/>
                <a:ea typeface="Arial" panose="020B0604020202020204" pitchFamily="34" charset="0"/>
              </a:rPr>
              <a:t> and </a:t>
            </a:r>
            <a:r>
              <a:rPr lang="en-US" sz="2400" i="1" dirty="0" err="1">
                <a:effectLst/>
                <a:latin typeface="Times New Roman" panose="02020603050405020304" pitchFamily="18" charset="0"/>
                <a:ea typeface="Arial" panose="020B0604020202020204" pitchFamily="34" charset="0"/>
              </a:rPr>
              <a:t>PatchMLP_CNN</a:t>
            </a:r>
            <a:r>
              <a:rPr lang="en-US" sz="2400" i="1" dirty="0">
                <a:effectLst/>
                <a:latin typeface="Times New Roman" panose="02020603050405020304" pitchFamily="18" charset="0"/>
                <a:ea typeface="Arial" panose="020B0604020202020204" pitchFamily="34" charset="0"/>
              </a:rPr>
              <a:t>. </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299377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B0A38727-FC0B-92C6-4D9C-ED91F3A520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468" y="1427747"/>
            <a:ext cx="11403072" cy="4075517"/>
          </a:xfrm>
          <a:prstGeom prst="rect">
            <a:avLst/>
          </a:prstGeom>
        </p:spPr>
      </p:pic>
      <p:sp>
        <p:nvSpPr>
          <p:cNvPr id="2" name="תיבת טקסט 2">
            <a:extLst>
              <a:ext uri="{FF2B5EF4-FFF2-40B4-BE49-F238E27FC236}">
                <a16:creationId xmlns:a16="http://schemas.microsoft.com/office/drawing/2014/main" id="{2AF8758E-DEF1-4DE2-2277-1518316F44D8}"/>
              </a:ext>
            </a:extLst>
          </p:cNvPr>
          <p:cNvSpPr txBox="1">
            <a:spLocks noChangeArrowheads="1"/>
          </p:cNvSpPr>
          <p:nvPr/>
        </p:nvSpPr>
        <p:spPr bwMode="auto">
          <a:xfrm flipH="1">
            <a:off x="999517" y="5503264"/>
            <a:ext cx="10320974" cy="782537"/>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buNone/>
            </a:pPr>
            <a:r>
              <a:rPr lang="en-US" sz="2400" i="1" dirty="0">
                <a:effectLst/>
                <a:latin typeface="Times New Roman" panose="02020603050405020304" pitchFamily="18" charset="0"/>
                <a:ea typeface="Arial" panose="020B0604020202020204" pitchFamily="34" charset="0"/>
              </a:rPr>
              <a:t>Figure 8. (B) Per-class F1 - </a:t>
            </a:r>
            <a:r>
              <a:rPr lang="en-US" sz="2400" i="1" dirty="0" err="1">
                <a:effectLst/>
                <a:latin typeface="Times New Roman" panose="02020603050405020304" pitchFamily="18" charset="0"/>
                <a:ea typeface="Arial" panose="020B0604020202020204" pitchFamily="34" charset="0"/>
              </a:rPr>
              <a:t>ImprovedCNN</a:t>
            </a:r>
            <a:r>
              <a:rPr lang="en-US" sz="2400" i="1" dirty="0">
                <a:effectLst/>
                <a:latin typeface="Times New Roman" panose="02020603050405020304" pitchFamily="18" charset="0"/>
                <a:ea typeface="Arial" panose="020B0604020202020204" pitchFamily="34" charset="0"/>
              </a:rPr>
              <a:t> (blue) vs </a:t>
            </a:r>
            <a:r>
              <a:rPr lang="en-US" sz="2400" i="1" dirty="0" err="1">
                <a:effectLst/>
                <a:latin typeface="Times New Roman" panose="02020603050405020304" pitchFamily="18" charset="0"/>
                <a:ea typeface="Arial" panose="020B0604020202020204" pitchFamily="34" charset="0"/>
              </a:rPr>
              <a:t>PatchMLP_CNN</a:t>
            </a:r>
            <a:r>
              <a:rPr lang="en-US" sz="2400" i="1" dirty="0">
                <a:effectLst/>
                <a:latin typeface="Times New Roman" panose="02020603050405020304" pitchFamily="18" charset="0"/>
                <a:ea typeface="Arial" panose="020B0604020202020204" pitchFamily="34" charset="0"/>
              </a:rPr>
              <a:t>.</a:t>
            </a:r>
            <a:endParaRPr lang="en-US" sz="2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662514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A1248ED-EDBF-F401-8BD0-D4FD255C8D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7815"/>
            <a:ext cx="12192000" cy="5160266"/>
          </a:xfrm>
          <a:prstGeom prst="rect">
            <a:avLst/>
          </a:prstGeom>
        </p:spPr>
      </p:pic>
      <p:sp>
        <p:nvSpPr>
          <p:cNvPr id="2" name="Text Box 2">
            <a:extLst>
              <a:ext uri="{FF2B5EF4-FFF2-40B4-BE49-F238E27FC236}">
                <a16:creationId xmlns:a16="http://schemas.microsoft.com/office/drawing/2014/main" id="{2F94957C-6EBE-C40D-85CD-8BEB89F17A86}"/>
              </a:ext>
            </a:extLst>
          </p:cNvPr>
          <p:cNvSpPr txBox="1">
            <a:spLocks noChangeArrowheads="1"/>
          </p:cNvSpPr>
          <p:nvPr/>
        </p:nvSpPr>
        <p:spPr bwMode="auto">
          <a:xfrm>
            <a:off x="2550694" y="5857726"/>
            <a:ext cx="7600649" cy="1000274"/>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rtl="0">
              <a:buNone/>
            </a:pP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Figure A6. Confusion matrices — </a:t>
            </a:r>
            <a:r>
              <a:rPr lang="en-US" sz="2400" i="1" dirty="0" err="1">
                <a:effectLst/>
                <a:latin typeface="Times New Roman" panose="02020603050405020304" pitchFamily="18" charset="0"/>
                <a:ea typeface="Times New Roman" panose="02020603050405020304" pitchFamily="18" charset="0"/>
                <a:cs typeface="Times New Roman" panose="02020603050405020304" pitchFamily="18" charset="0"/>
              </a:rPr>
              <a:t>ImprovedCNN</a:t>
            </a: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 (left) vs </a:t>
            </a:r>
            <a:r>
              <a:rPr lang="en-US" sz="2400" i="1" dirty="0" err="1">
                <a:effectLst/>
                <a:latin typeface="Times New Roman" panose="02020603050405020304" pitchFamily="18" charset="0"/>
                <a:ea typeface="Times New Roman" panose="02020603050405020304" pitchFamily="18" charset="0"/>
                <a:cs typeface="Times New Roman" panose="02020603050405020304" pitchFamily="18" charset="0"/>
              </a:rPr>
              <a:t>PatchMLP_CNN</a:t>
            </a: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 (right).</a:t>
            </a:r>
            <a:endParaRPr lang="en-US" sz="2400" dirty="0">
              <a:effectLst/>
              <a:latin typeface="Times New Roman" panose="02020603050405020304" pitchFamily="18" charset="0"/>
              <a:ea typeface="Times New Roman" panose="02020603050405020304" pitchFamily="18" charset="0"/>
            </a:endParaRPr>
          </a:p>
          <a:p>
            <a:pPr algn="l" rtl="0">
              <a:buNone/>
            </a:pPr>
            <a:r>
              <a:rPr lang="en-US" sz="1100" dirty="0">
                <a:effectLst/>
                <a:latin typeface="Arial" panose="020B0604020202020204" pitchFamily="34" charset="0"/>
                <a:ea typeface="Arial" panose="020B0604020202020204" pitchFamily="34" charset="0"/>
              </a:rPr>
              <a:t> </a:t>
            </a:r>
          </a:p>
        </p:txBody>
      </p:sp>
    </p:spTree>
    <p:extLst>
      <p:ext uri="{BB962C8B-B14F-4D97-AF65-F5344CB8AC3E}">
        <p14:creationId xmlns:p14="http://schemas.microsoft.com/office/powerpoint/2010/main" val="2542228951"/>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600</Words>
  <Application>Microsoft Office PowerPoint</Application>
  <PresentationFormat>Widescreen</PresentationFormat>
  <Paragraphs>30</Paragraphs>
  <Slides>23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Times New Roman</vt:lpstr>
      <vt:lpstr>ערכת נושא Office</vt:lpstr>
      <vt:lpstr>Artificial Neural Networks – Project 2  FIGURES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Ora Nechama Friedman</dc:creator>
  <cp:lastModifiedBy>Aviva Heller</cp:lastModifiedBy>
  <cp:revision>4</cp:revision>
  <dcterms:created xsi:type="dcterms:W3CDTF">2026-06-08T16:48:32Z</dcterms:created>
  <dcterms:modified xsi:type="dcterms:W3CDTF">2026-06-10T18:15:04Z</dcterms:modified>
</cp:coreProperties>
</file>